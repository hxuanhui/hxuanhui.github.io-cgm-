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5D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5CAF33-AF00-94D8-3AA0-8C994C4C500B}" v="1" dt="2025-09-09T01:37:37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625" autoAdjust="0"/>
  </p:normalViewPr>
  <p:slideViewPr>
    <p:cSldViewPr snapToGrid="0" snapToObjects="1">
      <p:cViewPr varScale="1">
        <p:scale>
          <a:sx n="91" d="100"/>
          <a:sy n="91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黃暄惠" userId="S::huangxh214@cgmf.org.tw::d5d15662-9c88-4d79-9af8-89639c2cd128" providerId="AD" clId="Web-{7F5CAF33-AF00-94D8-3AA0-8C994C4C500B}"/>
    <pc:docChg chg="modSld">
      <pc:chgData name="黃暄惠" userId="S::huangxh214@cgmf.org.tw::d5d15662-9c88-4d79-9af8-89639c2cd128" providerId="AD" clId="Web-{7F5CAF33-AF00-94D8-3AA0-8C994C4C500B}" dt="2025-09-09T03:15:27.629" v="173"/>
      <pc:docMkLst>
        <pc:docMk/>
      </pc:docMkLst>
      <pc:sldChg chg="modNotes">
        <pc:chgData name="黃暄惠" userId="S::huangxh214@cgmf.org.tw::d5d15662-9c88-4d79-9af8-89639c2cd128" providerId="AD" clId="Web-{7F5CAF33-AF00-94D8-3AA0-8C994C4C500B}" dt="2025-09-09T01:32:03.542" v="50"/>
        <pc:sldMkLst>
          <pc:docMk/>
          <pc:sldMk cId="0" sldId="256"/>
        </pc:sldMkLst>
      </pc:sldChg>
      <pc:sldChg chg="modNotes">
        <pc:chgData name="黃暄惠" userId="S::huangxh214@cgmf.org.tw::d5d15662-9c88-4d79-9af8-89639c2cd128" providerId="AD" clId="Web-{7F5CAF33-AF00-94D8-3AA0-8C994C4C500B}" dt="2025-09-09T01:33:12.092" v="64"/>
        <pc:sldMkLst>
          <pc:docMk/>
          <pc:sldMk cId="0" sldId="257"/>
        </pc:sldMkLst>
      </pc:sldChg>
      <pc:sldChg chg="modNotes">
        <pc:chgData name="黃暄惠" userId="S::huangxh214@cgmf.org.tw::d5d15662-9c88-4d79-9af8-89639c2cd128" providerId="AD" clId="Web-{7F5CAF33-AF00-94D8-3AA0-8C994C4C500B}" dt="2025-09-09T02:10:35.737" v="153"/>
        <pc:sldMkLst>
          <pc:docMk/>
          <pc:sldMk cId="0" sldId="258"/>
        </pc:sldMkLst>
      </pc:sldChg>
      <pc:sldChg chg="modNotes">
        <pc:chgData name="黃暄惠" userId="S::huangxh214@cgmf.org.tw::d5d15662-9c88-4d79-9af8-89639c2cd128" providerId="AD" clId="Web-{7F5CAF33-AF00-94D8-3AA0-8C994C4C500B}" dt="2025-09-09T02:12:59.617" v="156"/>
        <pc:sldMkLst>
          <pc:docMk/>
          <pc:sldMk cId="0" sldId="259"/>
        </pc:sldMkLst>
      </pc:sldChg>
      <pc:sldChg chg="modNotes">
        <pc:chgData name="黃暄惠" userId="S::huangxh214@cgmf.org.tw::d5d15662-9c88-4d79-9af8-89639c2cd128" providerId="AD" clId="Web-{7F5CAF33-AF00-94D8-3AA0-8C994C4C500B}" dt="2025-09-09T03:15:27.629" v="173"/>
        <pc:sldMkLst>
          <pc:docMk/>
          <pc:sldMk cId="0" sldId="260"/>
        </pc:sldMkLst>
      </pc:sldChg>
      <pc:sldChg chg="modNotes">
        <pc:chgData name="黃暄惠" userId="S::huangxh214@cgmf.org.tw::d5d15662-9c88-4d79-9af8-89639c2cd128" providerId="AD" clId="Web-{7F5CAF33-AF00-94D8-3AA0-8C994C4C500B}" dt="2025-09-09T01:08:07.689" v="26"/>
        <pc:sldMkLst>
          <pc:docMk/>
          <pc:sldMk cId="0" sldId="262"/>
        </pc:sldMkLst>
      </pc:sldChg>
      <pc:sldChg chg="modNotes">
        <pc:chgData name="黃暄惠" userId="S::huangxh214@cgmf.org.tw::d5d15662-9c88-4d79-9af8-89639c2cd128" providerId="AD" clId="Web-{7F5CAF33-AF00-94D8-3AA0-8C994C4C500B}" dt="2025-09-09T01:08:17.862" v="29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027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Oracle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的管理與實作</a:t>
            </a:r>
            <a:endParaRPr lang="en-US" altLang="zh-TW" dirty="0"/>
          </a:p>
          <a:p>
            <a:r>
              <a:rPr lang="zh-TW" altLang="en-US">
                <a:ea typeface="新細明體"/>
              </a:rPr>
              <a:t>上完這堂課 對我最大的 幫助</a:t>
            </a:r>
            <a:endParaRPr lang="en-US" altLang="zh-TW">
              <a:ea typeface="新細明體"/>
            </a:endParaRPr>
          </a:p>
          <a:p>
            <a:pPr marL="228600" indent="-228600">
              <a:buAutoNum type="arabicPeriod"/>
            </a:pPr>
            <a:r>
              <a:rPr lang="zh-TW" altLang="en-US">
                <a:ea typeface="新細明體"/>
              </a:rPr>
              <a:t>月會討論的內容</a:t>
            </a:r>
            <a:r>
              <a:rPr lang="en-US" altLang="zh-TW" dirty="0">
                <a:ea typeface="新細明體"/>
              </a:rPr>
              <a:t>	</a:t>
            </a:r>
            <a:r>
              <a:rPr lang="zh-TW" altLang="en-US">
                <a:ea typeface="新細明體"/>
              </a:rPr>
              <a:t>   有明確的概念</a:t>
            </a:r>
            <a:endParaRPr lang="en-US" altLang="zh-TW" dirty="0">
              <a:ea typeface="新細明體"/>
            </a:endParaRPr>
          </a:p>
          <a:p>
            <a:pPr marL="228600" indent="-228600">
              <a:buAutoNum type="arabicPeriod"/>
            </a:pPr>
            <a:r>
              <a:rPr lang="zh-TW" altLang="en-US">
                <a:ea typeface="新細明體"/>
              </a:rPr>
              <a:t>有建立  其他資料庫 的需求</a:t>
            </a:r>
            <a:r>
              <a:rPr lang="en-US" altLang="zh-TW" dirty="0">
                <a:ea typeface="新細明體"/>
              </a:rPr>
              <a:t>	</a:t>
            </a:r>
            <a:r>
              <a:rPr lang="zh-TW" altLang="en-US">
                <a:ea typeface="新細明體"/>
              </a:rPr>
              <a:t>應用類似的知識，比較上手</a:t>
            </a:r>
            <a:endParaRPr lang="en-US" altLang="zh-TW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>
                <a:ea typeface="新細明體"/>
              </a:rPr>
              <a:t>這堂課的課程內容</a:t>
            </a:r>
            <a:r>
              <a:rPr lang="en-US" altLang="zh-TW" dirty="0">
                <a:ea typeface="新細明體"/>
              </a:rPr>
              <a:t> </a:t>
            </a:r>
            <a:r>
              <a:rPr lang="en-US" altLang="zh-TW" dirty="0" err="1">
                <a:ea typeface="新細明體"/>
              </a:rPr>
              <a:t>涵蓋</a:t>
            </a:r>
            <a:endParaRPr lang="en-US" altLang="zh-TW" dirty="0" err="1"/>
          </a:p>
          <a:p>
            <a:r>
              <a:rPr lang="en-US" altLang="zh-TW" dirty="0">
                <a:ea typeface="新細明體"/>
              </a:rPr>
              <a:t>CDB</a:t>
            </a:r>
            <a:r>
              <a:rPr lang="zh-TW" altLang="en-US">
                <a:ea typeface="新細明體"/>
              </a:rPr>
              <a:t>、</a:t>
            </a:r>
            <a:r>
              <a:rPr lang="en-US" altLang="zh-TW" dirty="0">
                <a:ea typeface="新細明體"/>
              </a:rPr>
              <a:t>PDB </a:t>
            </a:r>
            <a:r>
              <a:rPr lang="zh-TW" altLang="en-US">
                <a:ea typeface="新細明體"/>
              </a:rPr>
              <a:t> 建立 到 運行、監控</a:t>
            </a:r>
            <a:endParaRPr lang="en-US" altLang="zh-TW">
              <a:ea typeface="新細明體"/>
            </a:endParaRPr>
          </a:p>
          <a:p>
            <a:r>
              <a:rPr lang="zh-TW" altLang="en-US">
                <a:ea typeface="新細明體"/>
              </a:rPr>
              <a:t>我選了</a:t>
            </a:r>
            <a:endParaRPr lang="zh-TW" altLang="en-US" dirty="0">
              <a:ea typeface="新細明體"/>
            </a:endParaRPr>
          </a:p>
          <a:p>
            <a:r>
              <a:rPr lang="zh-TW" altLang="en-US">
                <a:ea typeface="新細明體"/>
              </a:rPr>
              <a:t>三個 課程中 最印象深刻  內容 分享</a:t>
            </a:r>
            <a:endParaRPr lang="en-US" altLang="zh-TW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資料字典的建立</a:t>
            </a:r>
            <a:endParaRPr lang="en-US" altLang="zh-TW" dirty="0"/>
          </a:p>
          <a:p>
            <a:r>
              <a:rPr lang="zh-TW" altLang="en-US" dirty="0"/>
              <a:t>資料字典 資料庫的核心</a:t>
            </a:r>
            <a:endParaRPr lang="en-US" altLang="zh-TW" dirty="0"/>
          </a:p>
          <a:p>
            <a:pPr>
              <a:defRPr/>
            </a:pPr>
            <a:r>
              <a:rPr lang="zh-TW" altLang="en-US">
                <a:ea typeface="新細明體"/>
              </a:rPr>
              <a:t>上課 查詢資料字典  中 的</a:t>
            </a:r>
            <a:r>
              <a:rPr lang="zh-TW" altLang="en-US">
                <a:effectLst/>
                <a:ea typeface="新細明體"/>
              </a:rPr>
              <a:t>系統狀態</a:t>
            </a:r>
            <a:endParaRPr lang="en-US" altLang="zh-TW">
              <a:effectLst/>
              <a:ea typeface="新細明體"/>
            </a:endParaRPr>
          </a:p>
          <a:p>
            <a:pPr>
              <a:defRPr/>
            </a:pPr>
            <a:r>
              <a:rPr lang="zh-TW" altLang="en-US">
                <a:effectLst/>
                <a:ea typeface="新細明體"/>
              </a:rPr>
              <a:t>資料字典</a:t>
            </a:r>
            <a:r>
              <a:rPr lang="zh-TW" altLang="en-US">
                <a:ea typeface="新細明體"/>
              </a:rPr>
              <a:t>  </a:t>
            </a:r>
            <a:r>
              <a:rPr lang="zh-TW" altLang="en-US">
                <a:effectLst/>
                <a:ea typeface="新細明體"/>
              </a:rPr>
              <a:t>是由</a:t>
            </a:r>
            <a:r>
              <a:rPr lang="zh-TW" altLang="en-US">
                <a:ea typeface="新細明體"/>
              </a:rPr>
              <a:t>  </a:t>
            </a:r>
            <a:r>
              <a:rPr lang="zh-TW" altLang="en-US">
                <a:effectLst/>
                <a:ea typeface="新細明體"/>
              </a:rPr>
              <a:t>這兩個腳本建構</a:t>
            </a:r>
            <a:r>
              <a:rPr lang="zh-TW" altLang="en-US">
                <a:ea typeface="新細明體"/>
              </a:rPr>
              <a:t> 而成</a:t>
            </a:r>
            <a:endParaRPr lang="en-US" altLang="zh-TW">
              <a:effectLst/>
              <a:ea typeface="新細明體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ea typeface="新細明體"/>
              </a:rPr>
              <a:t>在</a:t>
            </a:r>
            <a:r>
              <a:rPr lang="zh-TW" altLang="en-US">
                <a:effectLst/>
                <a:ea typeface="新細明體"/>
              </a:rPr>
              <a:t>建立資料庫時應該被運行</a:t>
            </a:r>
            <a:endParaRPr lang="en-US" altLang="zh-TW">
              <a:effectLst/>
              <a:ea typeface="新細明體"/>
            </a:endParaRPr>
          </a:p>
          <a:p>
            <a:pPr marL="228600" indent="-228600">
              <a:buFontTx/>
              <a:buAutoNum type="arabicPeriod"/>
              <a:defRPr/>
            </a:pPr>
            <a:r>
              <a:rPr lang="en-US" altLang="zh-TW" dirty="0">
                <a:ea typeface="新細明體"/>
              </a:rPr>
              <a:t>DBCA 	會  </a:t>
            </a:r>
            <a:r>
              <a:rPr lang="zh-TW" altLang="en-US">
                <a:ea typeface="新細明體"/>
              </a:rPr>
              <a:t>自動執行這兩個腳本</a:t>
            </a:r>
            <a:r>
              <a:rPr lang="en-US" altLang="zh-TW" dirty="0">
                <a:ea typeface="新細明體"/>
              </a:rPr>
              <a:t>		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>
                <a:ea typeface="新細明體"/>
              </a:rPr>
              <a:t>手動下指令</a:t>
            </a:r>
            <a:r>
              <a:rPr lang="en-US" altLang="zh-TW" dirty="0">
                <a:ea typeface="新細明體"/>
              </a:rPr>
              <a:t>	</a:t>
            </a:r>
            <a:r>
              <a:rPr lang="zh-TW" altLang="en-US">
                <a:ea typeface="新細明體"/>
              </a:rPr>
              <a:t>記得要執行</a:t>
            </a:r>
            <a:r>
              <a:rPr lang="en-US" altLang="zh-TW" dirty="0">
                <a:ea typeface="新細明體"/>
              </a:rPr>
              <a:t>	</a:t>
            </a:r>
            <a:r>
              <a:rPr lang="en-US" altLang="zh-TW" dirty="0" err="1">
                <a:ea typeface="新細明體"/>
              </a:rPr>
              <a:t>否則</a:t>
            </a:r>
            <a:r>
              <a:rPr lang="zh-TW" altLang="en-US">
                <a:ea typeface="新細明體"/>
              </a:rPr>
              <a:t>可以就算資料庫啟動，但無法進行基本監控</a:t>
            </a:r>
          </a:p>
          <a:p>
            <a:pPr>
              <a:defRPr/>
            </a:pPr>
            <a:r>
              <a:rPr lang="zh-TW" altLang="en-US" dirty="0">
                <a:ea typeface="新細明體"/>
              </a:rPr>
              <a:t>----</a:t>
            </a:r>
          </a:p>
          <a:p>
            <a:pPr>
              <a:defRPr/>
            </a:pPr>
            <a:r>
              <a:rPr lang="zh-TW" altLang="en-US">
                <a:ea typeface="新細明體"/>
              </a:rPr>
              <a:t>啟動狀態 V$DATABASE open mode</a:t>
            </a:r>
          </a:p>
          <a:p>
            <a:pPr>
              <a:defRPr/>
            </a:pPr>
            <a:r>
              <a:rPr lang="zh-TW" altLang="en-US">
                <a:ea typeface="新細明體"/>
              </a:rPr>
              <a:t>tablespace啟動的狀態 DBA_TABLESPACE </a:t>
            </a:r>
            <a:endParaRPr lang="zh-TW" altLang="en-US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User</a:t>
            </a:r>
            <a:r>
              <a:rPr lang="zh-TW" altLang="en-US" dirty="0">
                <a:effectLst/>
              </a:rPr>
              <a:t>跟</a:t>
            </a:r>
            <a:r>
              <a:rPr lang="en-US" altLang="zh-TW" dirty="0">
                <a:effectLst/>
              </a:rPr>
              <a:t>role</a:t>
            </a:r>
            <a:r>
              <a:rPr lang="zh-TW" altLang="en-US" dirty="0">
                <a:effectLst/>
              </a:rPr>
              <a:t>的管理</a:t>
            </a:r>
            <a:endParaRPr lang="en-US" altLang="zh-TW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effectLst/>
              </a:rPr>
              <a:t>在</a:t>
            </a:r>
            <a:r>
              <a:rPr lang="en-US" altLang="zh-TW" dirty="0">
                <a:effectLst/>
              </a:rPr>
              <a:t>Oracle</a:t>
            </a:r>
            <a:r>
              <a:rPr lang="zh-TW" altLang="en-US" dirty="0">
                <a:effectLst/>
              </a:rPr>
              <a:t>中，初始狀態下，</a:t>
            </a:r>
            <a:endParaRPr lang="en-US" altLang="zh-TW" dirty="0">
              <a:effectLst/>
            </a:endParaRPr>
          </a:p>
          <a:p>
            <a:r>
              <a:rPr lang="en-US" altLang="zh-TW" dirty="0">
                <a:effectLst/>
              </a:rPr>
              <a:t>user</a:t>
            </a:r>
            <a:r>
              <a:rPr lang="zh-TW" altLang="en-US" dirty="0">
                <a:effectLst/>
              </a:rPr>
              <a:t>是登入帳號，無權限；</a:t>
            </a:r>
            <a:endParaRPr lang="en-US" altLang="zh-TW" dirty="0">
              <a:effectLst/>
            </a:endParaRPr>
          </a:p>
          <a:p>
            <a:r>
              <a:rPr lang="en-US" altLang="zh-TW" dirty="0">
                <a:effectLst/>
              </a:rPr>
              <a:t>role</a:t>
            </a:r>
            <a:r>
              <a:rPr lang="zh-TW" altLang="en-US" dirty="0">
                <a:effectLst/>
              </a:rPr>
              <a:t>是權限集合，無法直接登入。</a:t>
            </a:r>
            <a:endParaRPr lang="en-US" altLang="zh-TW" dirty="0">
              <a:effectLst/>
            </a:endParaRPr>
          </a:p>
          <a:p>
            <a:r>
              <a:rPr lang="en-US" altLang="zh-TW" dirty="0" err="1">
                <a:ea typeface="新細明體"/>
              </a:rPr>
              <a:t>然而</a:t>
            </a:r>
            <a:r>
              <a:rPr lang="en-US" altLang="zh-TW" dirty="0" err="1">
                <a:effectLst/>
                <a:ea typeface="新細明體"/>
              </a:rPr>
              <a:t>user</a:t>
            </a:r>
            <a:r>
              <a:rPr lang="zh-TW" altLang="en-US">
                <a:effectLst/>
                <a:ea typeface="新細明體"/>
              </a:rPr>
              <a:t>的登入能力可透過撤銷</a:t>
            </a:r>
            <a:r>
              <a:rPr lang="en-US" altLang="zh-TW" dirty="0">
                <a:effectLst/>
                <a:ea typeface="新細明體"/>
              </a:rPr>
              <a:t>CREATE SESSION</a:t>
            </a:r>
            <a:r>
              <a:rPr lang="zh-TW" altLang="en-US">
                <a:effectLst/>
                <a:ea typeface="新細明體"/>
              </a:rPr>
              <a:t>調整</a:t>
            </a:r>
            <a:endParaRPr lang="en-US" altLang="zh-TW" dirty="0">
              <a:ea typeface="新細明體"/>
            </a:endParaRPr>
          </a:p>
          <a:p>
            <a:r>
              <a:rPr lang="zh-TW" altLang="en-US">
                <a:ea typeface="新細明體"/>
              </a:rPr>
              <a:t>這</a:t>
            </a:r>
            <a:r>
              <a:rPr lang="zh-TW" altLang="en-US">
                <a:effectLst/>
                <a:ea typeface="新細明體"/>
              </a:rPr>
              <a:t>表示 區分</a:t>
            </a:r>
            <a:r>
              <a:rPr lang="en-US" altLang="zh-TW">
                <a:effectLst/>
                <a:ea typeface="新細明體"/>
              </a:rPr>
              <a:t>role </a:t>
            </a:r>
            <a:r>
              <a:rPr lang="en-US" altLang="zh-TW">
                <a:ea typeface="新細明體"/>
              </a:rPr>
              <a:t>跟 </a:t>
            </a:r>
            <a:r>
              <a:rPr lang="en-US" altLang="zh-TW">
                <a:effectLst/>
                <a:ea typeface="新細明體"/>
              </a:rPr>
              <a:t>user </a:t>
            </a:r>
            <a:r>
              <a:rPr lang="zh-TW" altLang="en-US">
                <a:effectLst/>
                <a:ea typeface="新細明體"/>
              </a:rPr>
              <a:t>不僅依賴登入與否。</a:t>
            </a:r>
            <a:endParaRPr lang="en-US" altLang="zh-TW">
              <a:effectLst/>
              <a:ea typeface="新細明體"/>
            </a:endParaRPr>
          </a:p>
          <a:p>
            <a:r>
              <a:rPr lang="zh-TW" altLang="en-US">
                <a:effectLst/>
                <a:ea typeface="新細明體"/>
              </a:rPr>
              <a:t>一開始接觸時，由於</a:t>
            </a:r>
            <a:r>
              <a:rPr lang="en-US" altLang="zh-TW" dirty="0">
                <a:effectLst/>
                <a:ea typeface="新細明體"/>
              </a:rPr>
              <a:t>user</a:t>
            </a:r>
            <a:r>
              <a:rPr lang="zh-TW" altLang="en-US">
                <a:effectLst/>
                <a:ea typeface="新細明體"/>
              </a:rPr>
              <a:t>狀態可變性，區分</a:t>
            </a:r>
            <a:r>
              <a:rPr lang="en-US" altLang="zh-TW" dirty="0">
                <a:effectLst/>
                <a:ea typeface="新細明體"/>
              </a:rPr>
              <a:t>user</a:t>
            </a:r>
            <a:r>
              <a:rPr lang="zh-TW" altLang="en-US">
                <a:effectLst/>
                <a:ea typeface="新細明體"/>
              </a:rPr>
              <a:t>與</a:t>
            </a:r>
            <a:r>
              <a:rPr lang="en-US" altLang="zh-TW" dirty="0">
                <a:effectLst/>
                <a:ea typeface="新細明體"/>
              </a:rPr>
              <a:t>role</a:t>
            </a:r>
            <a:r>
              <a:rPr lang="zh-TW" altLang="en-US">
                <a:effectLst/>
                <a:ea typeface="新細明體"/>
              </a:rPr>
              <a:t>花了一些時間</a:t>
            </a:r>
            <a:r>
              <a:rPr lang="zh-TW" altLang="en-US">
                <a:ea typeface="新細明體"/>
              </a:rPr>
              <a:t>釐清</a:t>
            </a:r>
            <a:r>
              <a:rPr lang="zh-TW" altLang="en-US">
                <a:effectLst/>
                <a:ea typeface="新細明體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資料庫的交易與恢復機制</a:t>
            </a:r>
            <a:endParaRPr lang="en-US" altLang="zh-TW" dirty="0"/>
          </a:p>
          <a:p>
            <a:r>
              <a:rPr lang="zh-TW" altLang="en-US" dirty="0"/>
              <a:t>老師花了不少時間講解這部分，包含機制介紹還有參數設定等。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交易與恢復機制中</a:t>
            </a:r>
            <a:endParaRPr lang="en-US" altLang="zh-TW" dirty="0"/>
          </a:p>
          <a:p>
            <a:r>
              <a:rPr lang="en-US" altLang="zh-TW" dirty="0">
                <a:ea typeface="新細明體"/>
              </a:rPr>
              <a:t>Rollback</a:t>
            </a:r>
            <a:r>
              <a:rPr lang="zh-TW" altLang="en-US">
                <a:ea typeface="新細明體"/>
              </a:rPr>
              <a:t>的作用 將未</a:t>
            </a:r>
            <a:r>
              <a:rPr lang="en-US" altLang="zh-TW" dirty="0">
                <a:ea typeface="新細明體"/>
              </a:rPr>
              <a:t>commit</a:t>
            </a:r>
            <a:r>
              <a:rPr lang="zh-TW" altLang="en-US">
                <a:ea typeface="新細明體"/>
              </a:rPr>
              <a:t>的變更 儲存</a:t>
            </a:r>
            <a:r>
              <a:rPr lang="en-US" altLang="zh-TW" dirty="0">
                <a:ea typeface="新細明體"/>
              </a:rPr>
              <a:t> Undo Tablespace</a:t>
            </a:r>
          </a:p>
          <a:p>
            <a:r>
              <a:rPr lang="zh-TW" altLang="en-US">
                <a:ea typeface="新細明體"/>
              </a:rPr>
              <a:t>用來 支援交易回滾、讀取一致性。</a:t>
            </a:r>
            <a:endParaRPr lang="en-US" altLang="zh-TW">
              <a:ea typeface="新細明體"/>
            </a:endParaRPr>
          </a:p>
          <a:p>
            <a:r>
              <a:rPr lang="zh-TW" altLang="en-US" dirty="0"/>
              <a:t>課程中，老師 介紹 參數設定</a:t>
            </a:r>
            <a:endParaRPr lang="en-US" altLang="zh-TW" dirty="0"/>
          </a:p>
          <a:p>
            <a:r>
              <a:rPr lang="en-US" altLang="zh-TW" dirty="0">
                <a:ea typeface="新細明體"/>
              </a:rPr>
              <a:t>-  UNDO_RETENTION</a:t>
            </a:r>
            <a:r>
              <a:rPr lang="zh-TW" altLang="en-US">
                <a:ea typeface="新細明體"/>
              </a:rPr>
              <a:t>，決定未</a:t>
            </a:r>
            <a:r>
              <a:rPr lang="en-US" altLang="zh-TW" dirty="0">
                <a:ea typeface="新細明體"/>
              </a:rPr>
              <a:t>commit</a:t>
            </a:r>
            <a:r>
              <a:rPr lang="zh-TW" altLang="en-US">
                <a:ea typeface="新細明體"/>
              </a:rPr>
              <a:t>資料的保留時間（單位：秒）</a:t>
            </a:r>
            <a:endParaRPr lang="en-US" altLang="zh-TW">
              <a:ea typeface="新細明體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>
                <a:ea typeface="新細明體"/>
              </a:rPr>
              <a:t>RETENTION GUARANTEE</a:t>
            </a:r>
            <a:r>
              <a:rPr lang="zh-TW" altLang="en-US">
                <a:ea typeface="新細明體"/>
              </a:rPr>
              <a:t>，確保未過期的</a:t>
            </a:r>
            <a:r>
              <a:rPr lang="en-US" altLang="zh-TW" dirty="0">
                <a:ea typeface="新細明體"/>
              </a:rPr>
              <a:t>Undo</a:t>
            </a:r>
            <a:r>
              <a:rPr lang="zh-TW" altLang="en-US">
                <a:ea typeface="新細明體"/>
              </a:rPr>
              <a:t>資料</a:t>
            </a:r>
            <a:r>
              <a:rPr lang="zh-TW" altLang="en-US">
                <a:effectLst/>
                <a:ea typeface="新細明體"/>
              </a:rPr>
              <a:t>不被覆蓋 </a:t>
            </a:r>
            <a:endParaRPr lang="en-US" altLang="zh-TW">
              <a:effectLst/>
              <a:ea typeface="新細明體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effectLst/>
              </a:rPr>
              <a:t> </a:t>
            </a:r>
            <a:r>
              <a:rPr lang="en-US" altLang="zh-TW" dirty="0">
                <a:effectLst/>
              </a:rPr>
              <a:t>(ORA-30036: unable to extend segment by %s in undo tablespace</a:t>
            </a:r>
            <a:r>
              <a:rPr lang="zh-TW" altLang="en-US" dirty="0">
                <a:effectLst/>
              </a:rPr>
              <a:t> 交易失敗</a:t>
            </a:r>
            <a:r>
              <a:rPr lang="en-US" altLang="zh-TW" dirty="0">
                <a:effectLst/>
              </a:rPr>
              <a:t>)</a:t>
            </a:r>
            <a:endParaRPr lang="zh-TW" altLang="en-US" dirty="0">
              <a:effectLst/>
            </a:endParaRPr>
          </a:p>
          <a:p>
            <a:endParaRPr lang="en-US" altLang="zh-TW" dirty="0"/>
          </a:p>
          <a:p>
            <a:r>
              <a:rPr lang="en-US" altLang="zh-TW" dirty="0" err="1">
                <a:ea typeface="新細明體"/>
              </a:rPr>
              <a:t>rollforward</a:t>
            </a:r>
            <a:r>
              <a:rPr lang="en-US" altLang="zh-TW" dirty="0">
                <a:ea typeface="新細明體"/>
              </a:rPr>
              <a:t> </a:t>
            </a:r>
            <a:r>
              <a:rPr lang="zh-TW" altLang="en-US">
                <a:ea typeface="新細明體"/>
              </a:rPr>
              <a:t>這個機制在 </a:t>
            </a:r>
            <a:r>
              <a:rPr lang="en-US" altLang="zh-TW" dirty="0">
                <a:ea typeface="新細明體"/>
              </a:rPr>
              <a:t>Instance Recovery </a:t>
            </a:r>
            <a:r>
              <a:rPr lang="zh-TW" altLang="en-US">
                <a:ea typeface="新細明體"/>
              </a:rPr>
              <a:t>或</a:t>
            </a:r>
            <a:r>
              <a:rPr lang="en-US" altLang="zh-TW" dirty="0">
                <a:ea typeface="新細明體"/>
              </a:rPr>
              <a:t>Media </a:t>
            </a:r>
            <a:r>
              <a:rPr lang="en-US" altLang="zh-TW" dirty="0" err="1">
                <a:ea typeface="新細明體"/>
              </a:rPr>
              <a:t>Recovery的時候</a:t>
            </a:r>
            <a:endParaRPr lang="zh-TW" altLang="en-US" dirty="0" err="1">
              <a:ea typeface="新細明體"/>
            </a:endParaRPr>
          </a:p>
          <a:p>
            <a:r>
              <a:rPr lang="zh-TW" altLang="en-US">
                <a:ea typeface="新細明體"/>
              </a:rPr>
              <a:t>會應用</a:t>
            </a:r>
            <a:r>
              <a:rPr lang="en-US" altLang="zh-TW">
                <a:ea typeface="新細明體"/>
              </a:rPr>
              <a:t>Redo Log  </a:t>
            </a:r>
            <a:r>
              <a:rPr lang="zh-TW" altLang="en-US">
                <a:ea typeface="新細明體"/>
              </a:rPr>
              <a:t>中已</a:t>
            </a:r>
            <a:r>
              <a:rPr lang="en-US" altLang="zh-TW" dirty="0">
                <a:ea typeface="新細明體"/>
              </a:rPr>
              <a:t>commit</a:t>
            </a:r>
            <a:r>
              <a:rPr lang="zh-TW" altLang="en-US">
                <a:ea typeface="新細明體"/>
              </a:rPr>
              <a:t>但尚未寫入</a:t>
            </a:r>
            <a:r>
              <a:rPr lang="en-US" altLang="zh-TW" dirty="0">
                <a:ea typeface="新細明體"/>
              </a:rPr>
              <a:t>Datafile</a:t>
            </a:r>
            <a:r>
              <a:rPr lang="zh-TW" altLang="en-US">
                <a:ea typeface="新細明體"/>
              </a:rPr>
              <a:t>的變更，來恢復資料庫至一致狀態。</a:t>
            </a:r>
            <a:endParaRPr lang="en-US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effectLst/>
              </a:rPr>
              <a:t>當</a:t>
            </a:r>
            <a:r>
              <a:rPr lang="en-US" altLang="zh-TW" dirty="0">
                <a:effectLst/>
              </a:rPr>
              <a:t>Instance Recovery</a:t>
            </a:r>
            <a:r>
              <a:rPr lang="zh-TW" altLang="en-US" dirty="0">
                <a:effectLst/>
              </a:rPr>
              <a:t>觸發時，</a:t>
            </a:r>
            <a:r>
              <a:rPr lang="en-US" altLang="zh-TW" dirty="0">
                <a:effectLst/>
              </a:rPr>
              <a:t>	(SHUTDOWN ABORT&gt;startup)</a:t>
            </a:r>
          </a:p>
          <a:p>
            <a:r>
              <a:rPr lang="en-US" altLang="zh-TW" dirty="0">
                <a:effectLst/>
              </a:rPr>
              <a:t>System Monitor</a:t>
            </a:r>
            <a:r>
              <a:rPr lang="zh-TW" altLang="en-US" dirty="0">
                <a:effectLst/>
              </a:rPr>
              <a:t>會自動執行</a:t>
            </a:r>
            <a:r>
              <a:rPr lang="en-US" altLang="zh-TW" dirty="0" err="1">
                <a:effectLst/>
              </a:rPr>
              <a:t>Rollforward</a:t>
            </a:r>
            <a:r>
              <a:rPr lang="zh-TW" altLang="en-US" dirty="0">
                <a:effectLst/>
              </a:rPr>
              <a:t>，</a:t>
            </a:r>
            <a:endParaRPr lang="en-US" altLang="zh-TW" dirty="0">
              <a:effectLst/>
            </a:endParaRPr>
          </a:p>
          <a:p>
            <a:r>
              <a:rPr lang="zh-TW" altLang="en-US" dirty="0">
                <a:effectLst/>
              </a:rPr>
              <a:t>利用</a:t>
            </a:r>
            <a:r>
              <a:rPr lang="en-US" altLang="zh-TW" dirty="0">
                <a:effectLst/>
              </a:rPr>
              <a:t>Redo Log</a:t>
            </a:r>
            <a:r>
              <a:rPr lang="zh-TW" altLang="en-US" dirty="0">
                <a:effectLst/>
              </a:rPr>
              <a:t>恢復 已</a:t>
            </a:r>
            <a:r>
              <a:rPr lang="en-US" altLang="zh-TW" dirty="0">
                <a:effectLst/>
              </a:rPr>
              <a:t>commit</a:t>
            </a:r>
            <a:r>
              <a:rPr lang="zh-TW" altLang="en-US" dirty="0">
                <a:effectLst/>
              </a:rPr>
              <a:t>的變更。</a:t>
            </a:r>
            <a:endParaRPr lang="en-US" altLang="zh-TW" dirty="0">
              <a:effectLst/>
            </a:endParaRPr>
          </a:p>
          <a:p>
            <a:endParaRPr lang="en-US" altLang="zh-TW" dirty="0">
              <a:effectLst/>
            </a:endParaRPr>
          </a:p>
          <a:p>
            <a:r>
              <a:rPr lang="zh-TW" altLang="en-US" dirty="0">
                <a:effectLst/>
              </a:rPr>
              <a:t>隨後，執行</a:t>
            </a:r>
            <a:r>
              <a:rPr lang="en-US" altLang="zh-TW" dirty="0">
                <a:effectLst/>
              </a:rPr>
              <a:t>Rollback</a:t>
            </a:r>
            <a:r>
              <a:rPr lang="zh-TW" altLang="en-US" dirty="0">
                <a:effectLst/>
              </a:rPr>
              <a:t>，</a:t>
            </a:r>
            <a:endParaRPr lang="en-US" altLang="zh-TW" dirty="0">
              <a:effectLst/>
            </a:endParaRPr>
          </a:p>
          <a:p>
            <a:r>
              <a:rPr lang="zh-TW" altLang="en-US" dirty="0">
                <a:effectLst/>
              </a:rPr>
              <a:t>處理</a:t>
            </a:r>
            <a:r>
              <a:rPr lang="en-US" altLang="zh-TW" dirty="0">
                <a:effectLst/>
              </a:rPr>
              <a:t>Undo Tablespace</a:t>
            </a:r>
            <a:r>
              <a:rPr lang="zh-TW" altLang="en-US" dirty="0">
                <a:effectLst/>
              </a:rPr>
              <a:t>中的  未</a:t>
            </a:r>
            <a:r>
              <a:rPr lang="en-US" altLang="zh-TW" dirty="0">
                <a:effectLst/>
              </a:rPr>
              <a:t>commit</a:t>
            </a:r>
            <a:r>
              <a:rPr lang="zh-TW" altLang="en-US" dirty="0">
                <a:effectLst/>
              </a:rPr>
              <a:t>變更。</a:t>
            </a:r>
            <a:endParaRPr lang="en-US" altLang="zh-TW" dirty="0">
              <a:effectLst/>
            </a:endParaRPr>
          </a:p>
          <a:p>
            <a:endParaRPr lang="en-US" altLang="zh-TW" dirty="0">
              <a:effectLst/>
            </a:endParaRPr>
          </a:p>
          <a:p>
            <a:endParaRPr lang="en-US" altLang="zh-TW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effectLst/>
              </a:rPr>
              <a:t>Media Recovery</a:t>
            </a:r>
            <a:r>
              <a:rPr lang="zh-TW" altLang="en-US" dirty="0">
                <a:effectLst/>
              </a:rPr>
              <a:t>在資料檔損壞或備份還原後觸發。系統會應用</a:t>
            </a:r>
            <a:r>
              <a:rPr lang="en-US" altLang="zh-TW" dirty="0">
                <a:effectLst/>
              </a:rPr>
              <a:t>archive log</a:t>
            </a:r>
            <a:r>
              <a:rPr lang="zh-TW" altLang="en-US" dirty="0">
                <a:effectLst/>
              </a:rPr>
              <a:t>修復資料，</a:t>
            </a:r>
            <a:r>
              <a:rPr lang="en-US" altLang="zh-TW" dirty="0">
                <a:effectLst/>
              </a:rPr>
              <a:t>DBA</a:t>
            </a:r>
            <a:r>
              <a:rPr lang="zh-TW" altLang="en-US" dirty="0">
                <a:effectLst/>
              </a:rPr>
              <a:t>可能需手動提供檔案。</a:t>
            </a:r>
          </a:p>
          <a:p>
            <a:endParaRPr lang="zh-TW" alt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ea typeface="新細明體"/>
              </a:rPr>
              <a:t>老師說學</a:t>
            </a:r>
            <a:r>
              <a:rPr lang="en-US" altLang="zh-TW" dirty="0">
                <a:ea typeface="新細明體"/>
              </a:rPr>
              <a:t>oracle</a:t>
            </a:r>
            <a:r>
              <a:rPr lang="zh-TW" altLang="en-US">
                <a:ea typeface="新細明體"/>
              </a:rPr>
              <a:t>就是學</a:t>
            </a:r>
            <a:r>
              <a:rPr lang="en-US" altLang="zh-TW" dirty="0">
                <a:ea typeface="新細明體"/>
              </a:rPr>
              <a:t>oracle</a:t>
            </a:r>
            <a:r>
              <a:rPr lang="zh-TW" altLang="en-US">
                <a:ea typeface="新細明體"/>
              </a:rPr>
              <a:t>不要帶著其他資料庫的思維去考驗他，其實我深有體驗，我在兩個資料庫都不熟悉的情況下，其實容易搞混，而且有的時候觀念會轉不過來，但是藉由這個機會我也在去複習了不是很熟悉的部分，從他們的差異去深入了解他們的特性。像是相似的部分增加了我的記憶。</a:t>
            </a:r>
            <a:endParaRPr lang="en-US">
              <a:ea typeface="新細明體"/>
            </a:endParaRPr>
          </a:p>
          <a:p>
            <a:r>
              <a:rPr lang="en-US" altLang="zh-TW" dirty="0">
                <a:ea typeface="新細明體"/>
              </a:rPr>
              <a:t>- </a:t>
            </a:r>
            <a:r>
              <a:rPr lang="zh-TW" altLang="en-US">
                <a:ea typeface="新細明體"/>
              </a:rPr>
              <a:t>比如說在這兩個資料庫系統中</a:t>
            </a:r>
            <a:r>
              <a:rPr lang="en-US" altLang="zh-TW" dirty="0">
                <a:ea typeface="新細明體"/>
              </a:rPr>
              <a:t>Tablespace</a:t>
            </a:r>
            <a:r>
              <a:rPr lang="zh-TW" altLang="en-US">
                <a:ea typeface="新細明體"/>
              </a:rPr>
              <a:t>都用來管理儲存空間 (但不是主要單位，主要單位是database跟schema)</a:t>
            </a:r>
            <a:endParaRPr lang="en-US" altLang="zh-TW">
              <a:ea typeface="新細明體"/>
            </a:endParaRPr>
          </a:p>
          <a:p>
            <a:r>
              <a:rPr lang="zh-TW" altLang="en-US">
                <a:ea typeface="新細明體"/>
              </a:rPr>
              <a:t>控制檔案（</a:t>
            </a:r>
            <a:r>
              <a:rPr lang="en-US" altLang="zh-TW" dirty="0">
                <a:ea typeface="新細明體"/>
              </a:rPr>
              <a:t>Oracle</a:t>
            </a:r>
            <a:r>
              <a:rPr lang="zh-TW" altLang="en-US">
                <a:ea typeface="新細明體"/>
              </a:rPr>
              <a:t>的</a:t>
            </a:r>
            <a:r>
              <a:rPr lang="en-US" altLang="zh-TW" dirty="0">
                <a:ea typeface="新細明體"/>
              </a:rPr>
              <a:t>Control File vs. PostgreSQL</a:t>
            </a:r>
            <a:r>
              <a:rPr lang="zh-TW" altLang="en-US">
                <a:ea typeface="新細明體"/>
              </a:rPr>
              <a:t>的</a:t>
            </a:r>
            <a:r>
              <a:rPr lang="en-US" altLang="zh-TW" dirty="0" err="1">
                <a:ea typeface="新細明體"/>
              </a:rPr>
              <a:t>pg_control</a:t>
            </a:r>
            <a:r>
              <a:rPr lang="zh-TW" altLang="en-US">
                <a:ea typeface="新細明體"/>
              </a:rPr>
              <a:t>，用來存元資料）。</a:t>
            </a:r>
            <a:endParaRPr lang="en-US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ea typeface="新細明體"/>
              </a:rPr>
              <a:t>差異的部分就如同我先前提到的，</a:t>
            </a:r>
            <a:endParaRPr lang="en-US">
              <a:ea typeface="新細明體"/>
            </a:endParaRPr>
          </a:p>
          <a:p>
            <a:r>
              <a:rPr lang="en-US" altLang="zh-TW">
                <a:ea typeface="新細明體"/>
              </a:rPr>
              <a:t>Oracle</a:t>
            </a:r>
            <a:r>
              <a:rPr lang="zh-TW" altLang="en-US">
                <a:ea typeface="新細明體"/>
              </a:rPr>
              <a:t>的</a:t>
            </a:r>
            <a:r>
              <a:rPr lang="en-US" altLang="zh-TW">
                <a:ea typeface="新細明體"/>
              </a:rPr>
              <a:t>role</a:t>
            </a:r>
            <a:r>
              <a:rPr lang="zh-TW" altLang="en-US">
                <a:ea typeface="新細明體"/>
              </a:rPr>
              <a:t>管理較為嚴謹複雜，</a:t>
            </a:r>
            <a:r>
              <a:rPr lang="en-US" altLang="zh-TW">
                <a:ea typeface="新細明體"/>
              </a:rPr>
              <a:t>oracle</a:t>
            </a:r>
            <a:r>
              <a:rPr lang="zh-TW" altLang="en-US">
                <a:ea typeface="新細明體"/>
              </a:rPr>
              <a:t>也有更多的參數可以調整。</a:t>
            </a:r>
            <a:endParaRPr lang="en-US">
              <a:ea typeface="新細明體"/>
            </a:endParaRPr>
          </a:p>
          <a:p>
            <a:r>
              <a:rPr lang="zh-TW" altLang="en-US">
                <a:ea typeface="新細明體"/>
              </a:rPr>
              <a:t>這堂課真的非常豐富，特別是</a:t>
            </a:r>
            <a:r>
              <a:rPr lang="en-US" altLang="zh-TW">
                <a:ea typeface="新細明體"/>
              </a:rPr>
              <a:t>Rollback</a:t>
            </a:r>
            <a:r>
              <a:rPr lang="zh-TW" altLang="en-US">
                <a:ea typeface="新細明體"/>
              </a:rPr>
              <a:t>和</a:t>
            </a:r>
            <a:r>
              <a:rPr lang="en-US" altLang="zh-TW">
                <a:ea typeface="新細明體"/>
              </a:rPr>
              <a:t>Rollforward</a:t>
            </a:r>
            <a:r>
              <a:rPr lang="zh-TW" altLang="en-US">
                <a:ea typeface="新細明體"/>
              </a:rPr>
              <a:t>連結了從資料庫啟動至恢復的知識，但是還有很多部分老師都沒有細講，期待未來學長的發揮。</a:t>
            </a:r>
            <a:endParaRPr lang="en-US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309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562</Words>
  <Application>Microsoft Office PowerPoint</Application>
  <PresentationFormat>寬螢幕</PresentationFormat>
  <Paragraphs>51</Paragraphs>
  <Slides>9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Database 19c 上課心得報告</dc:title>
  <dc:subject>PptxGenJS Presentation</dc:subject>
  <dc:creator>Created by Marp</dc:creator>
  <cp:lastModifiedBy>黃暄惠</cp:lastModifiedBy>
  <cp:revision>95</cp:revision>
  <dcterms:created xsi:type="dcterms:W3CDTF">2025-09-08T08:35:18Z</dcterms:created>
  <dcterms:modified xsi:type="dcterms:W3CDTF">2025-09-09T03:15:32Z</dcterms:modified>
</cp:coreProperties>
</file>